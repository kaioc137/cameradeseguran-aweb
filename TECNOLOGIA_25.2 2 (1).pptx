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3600" cy="43192700"/>
  <p:notesSz cx="6858000" cy="9144000"/>
  <p:embeddedFontLst>
    <p:embeddedFont>
      <p:font typeface="Gliker" panose="020B0604020202020204" charset="0"/>
      <p:regular r:id="rId3"/>
    </p:embeddedFon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Open Sans Bold" panose="020B0806030504020204" pitchFamily="34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A3E2F-45F7-4225-BA99-10A31C346E78}" v="1182" dt="2025-11-18T01:00:59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microsoft.com/office/2016/11/relationships/changesInfo" Target="changesInfos/changesInfo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19" Type="http://schemas.microsoft.com/office/2015/10/relationships/revisionInfo" Target="revisionInfo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Andrade" userId="22118ea72928a32c" providerId="Windows Live" clId="Web-{539A3E2F-45F7-4225-BA99-10A31C346E78}"/>
    <pc:docChg chg="addSld delSld modSld">
      <pc:chgData name="Thiago Andrade" userId="22118ea72928a32c" providerId="Windows Live" clId="Web-{539A3E2F-45F7-4225-BA99-10A31C346E78}" dt="2025-11-18T01:00:57.823" v="630" actId="20577"/>
      <pc:docMkLst>
        <pc:docMk/>
      </pc:docMkLst>
      <pc:sldChg chg="delSp modSp">
        <pc:chgData name="Thiago Andrade" userId="22118ea72928a32c" providerId="Windows Live" clId="Web-{539A3E2F-45F7-4225-BA99-10A31C346E78}" dt="2025-11-18T01:00:57.823" v="630" actId="20577"/>
        <pc:sldMkLst>
          <pc:docMk/>
          <pc:sldMk cId="0" sldId="256"/>
        </pc:sldMkLst>
        <pc:spChg chg="mod">
          <ac:chgData name="Thiago Andrade" userId="22118ea72928a32c" providerId="Windows Live" clId="Web-{539A3E2F-45F7-4225-BA99-10A31C346E78}" dt="2025-11-18T00:49:03.625" v="26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42:00.182" v="176" actId="1076"/>
          <ac:spMkLst>
            <pc:docMk/>
            <pc:sldMk cId="0" sldId="256"/>
            <ac:spMk id="10" creationId="{00000000-0000-0000-0000-000000000000}"/>
          </ac:spMkLst>
        </pc:spChg>
        <pc:spChg chg="mod ord">
          <ac:chgData name="Thiago Andrade" userId="22118ea72928a32c" providerId="Windows Live" clId="Web-{539A3E2F-45F7-4225-BA99-10A31C346E78}" dt="2025-11-18T01:00:57.823" v="630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42:27.479" v="182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42:16.823" v="180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49:49.220" v="272" actId="1076"/>
          <ac:spMkLst>
            <pc:docMk/>
            <pc:sldMk cId="0" sldId="256"/>
            <ac:spMk id="14" creationId="{00000000-0000-0000-0000-000000000000}"/>
          </ac:spMkLst>
        </pc:spChg>
        <pc:spChg chg="del mod">
          <ac:chgData name="Thiago Andrade" userId="22118ea72928a32c" providerId="Windows Live" clId="Web-{539A3E2F-45F7-4225-BA99-10A31C346E78}" dt="2025-11-18T00:47:05.355" v="224"/>
          <ac:spMkLst>
            <pc:docMk/>
            <pc:sldMk cId="0" sldId="256"/>
            <ac:spMk id="15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1:00:40.276" v="626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49:08.625" v="262" actId="1076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Thiago Andrade" userId="22118ea72928a32c" providerId="Windows Live" clId="Web-{539A3E2F-45F7-4225-BA99-10A31C346E78}" dt="2025-11-18T00:47:01.964" v="221"/>
          <ac:spMkLst>
            <pc:docMk/>
            <pc:sldMk cId="0" sldId="256"/>
            <ac:spMk id="18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48:35.514" v="254" actId="20577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59:34.104" v="61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52:35.099" v="542" actId="20577"/>
          <ac:spMkLst>
            <pc:docMk/>
            <pc:sldMk cId="0" sldId="256"/>
            <ac:spMk id="22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1:00:42.386" v="627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Thiago Andrade" userId="22118ea72928a32c" providerId="Windows Live" clId="Web-{539A3E2F-45F7-4225-BA99-10A31C346E78}" dt="2025-11-18T00:58:29.916" v="586" actId="20577"/>
          <ac:spMkLst>
            <pc:docMk/>
            <pc:sldMk cId="0" sldId="256"/>
            <ac:spMk id="24" creationId="{00000000-0000-0000-0000-000000000000}"/>
          </ac:spMkLst>
        </pc:spChg>
      </pc:sldChg>
      <pc:sldChg chg="new del">
        <pc:chgData name="Thiago Andrade" userId="22118ea72928a32c" providerId="Windows Live" clId="Web-{539A3E2F-45F7-4225-BA99-10A31C346E78}" dt="2025-11-18T00:59:03.807" v="590"/>
        <pc:sldMkLst>
          <pc:docMk/>
          <pc:sldMk cId="35865711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140039" y="14212853"/>
            <a:ext cx="37944963" cy="17374959"/>
          </a:xfrm>
          <a:custGeom>
            <a:avLst/>
            <a:gdLst/>
            <a:ahLst/>
            <a:cxnLst/>
            <a:rect l="l" t="t" r="r" b="b"/>
            <a:pathLst>
              <a:path w="37944963" h="17374959">
                <a:moveTo>
                  <a:pt x="0" y="0"/>
                </a:moveTo>
                <a:lnTo>
                  <a:pt x="37944963" y="0"/>
                </a:lnTo>
                <a:lnTo>
                  <a:pt x="37944963" y="17374959"/>
                </a:lnTo>
                <a:lnTo>
                  <a:pt x="0" y="17374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183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333251" y="40653150"/>
            <a:ext cx="4806554" cy="1219663"/>
          </a:xfrm>
          <a:custGeom>
            <a:avLst/>
            <a:gdLst/>
            <a:ahLst/>
            <a:cxnLst/>
            <a:rect l="l" t="t" r="r" b="b"/>
            <a:pathLst>
              <a:path w="4806554" h="1219663">
                <a:moveTo>
                  <a:pt x="0" y="0"/>
                </a:moveTo>
                <a:lnTo>
                  <a:pt x="4806554" y="0"/>
                </a:lnTo>
                <a:lnTo>
                  <a:pt x="4806554" y="1219664"/>
                </a:lnTo>
                <a:lnTo>
                  <a:pt x="0" y="1219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659832" y="40013768"/>
            <a:ext cx="2331941" cy="2210428"/>
          </a:xfrm>
          <a:custGeom>
            <a:avLst/>
            <a:gdLst/>
            <a:ahLst/>
            <a:cxnLst/>
            <a:rect l="l" t="t" r="r" b="b"/>
            <a:pathLst>
              <a:path w="2331941" h="2210428">
                <a:moveTo>
                  <a:pt x="0" y="0"/>
                </a:moveTo>
                <a:lnTo>
                  <a:pt x="2331941" y="0"/>
                </a:lnTo>
                <a:lnTo>
                  <a:pt x="2331941" y="2210428"/>
                </a:lnTo>
                <a:lnTo>
                  <a:pt x="0" y="2210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322" r="-5414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521550" y="1517443"/>
            <a:ext cx="8035511" cy="2234772"/>
          </a:xfrm>
          <a:custGeom>
            <a:avLst/>
            <a:gdLst/>
            <a:ahLst/>
            <a:cxnLst/>
            <a:rect l="l" t="t" r="r" b="b"/>
            <a:pathLst>
              <a:path w="8035511" h="2234772">
                <a:moveTo>
                  <a:pt x="0" y="0"/>
                </a:moveTo>
                <a:lnTo>
                  <a:pt x="8035511" y="0"/>
                </a:lnTo>
                <a:lnTo>
                  <a:pt x="8035511" y="2234773"/>
                </a:lnTo>
                <a:lnTo>
                  <a:pt x="0" y="22347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37" b="-20270"/>
            </a:stretch>
          </a:blipFill>
        </p:spPr>
      </p:sp>
      <p:sp>
        <p:nvSpPr>
          <p:cNvPr id="6" name="Freeform 6"/>
          <p:cNvSpPr/>
          <p:nvPr/>
        </p:nvSpPr>
        <p:spPr>
          <a:xfrm rot="-1047993">
            <a:off x="1891354" y="1260574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8" y="0"/>
                </a:lnTo>
                <a:lnTo>
                  <a:pt x="910048" y="4294743"/>
                </a:lnTo>
                <a:lnTo>
                  <a:pt x="0" y="42947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02332" y="6327863"/>
            <a:ext cx="16941692" cy="608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06"/>
              </a:lnSpc>
            </a:pPr>
            <a:r>
              <a:rPr lang="en-US" sz="5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TÍTULO :  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Sensor de </a:t>
            </a:r>
            <a:r>
              <a:rPr lang="en-US" sz="5700" dirty="0" err="1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Movimento</a:t>
            </a:r>
            <a:endParaRPr lang="en-US" sz="5700" dirty="0" err="1">
              <a:solidFill>
                <a:srgbClr val="000000"/>
              </a:solidFill>
              <a:latin typeface="Open Sans"/>
              <a:ea typeface="Open Sans Bold"/>
              <a:cs typeface="Open Sans Bold"/>
            </a:endParaRPr>
          </a:p>
          <a:p>
            <a:pPr algn="ctr">
              <a:lnSpc>
                <a:spcPts val="8006"/>
              </a:lnSpc>
            </a:pPr>
            <a:r>
              <a:rPr lang="en-US" sz="5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ALUNOS: Thiago Andrade | Gabriel Barbalho | Arthur Barbosa | Matheus Silva | Kaio | Moura</a:t>
            </a:r>
            <a:endParaRPr lang="en-US" sz="5700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8006"/>
              </a:lnSpc>
            </a:pPr>
            <a:r>
              <a:rPr lang="en-US" sz="5700" b="1" dirty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PROFESSOR:</a:t>
            </a:r>
            <a:r>
              <a:rPr lang="en-US" sz="5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 Bold"/>
                <a:cs typeface="Open Sans Bold"/>
                <a:sym typeface="Open Sans Bold"/>
              </a:rPr>
              <a:t>Paulo Henrique</a:t>
            </a:r>
            <a:endParaRPr lang="en-US" sz="5700" dirty="0">
              <a:solidFill>
                <a:srgbClr val="000000"/>
              </a:solidFill>
              <a:latin typeface="Open Sans"/>
              <a:ea typeface="Open Sans Bold"/>
              <a:cs typeface="Open Sans Bold"/>
            </a:endParaRPr>
          </a:p>
          <a:p>
            <a:pPr algn="ctr">
              <a:lnSpc>
                <a:spcPts val="8006"/>
              </a:lnSpc>
            </a:pPr>
            <a:r>
              <a:rPr lang="en-US" sz="5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DISCIPLINA :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Aplic. De Cloud, </a:t>
            </a:r>
            <a:r>
              <a:rPr lang="en-US" sz="5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Iot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e </a:t>
            </a:r>
            <a:r>
              <a:rPr lang="en-US" sz="5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indústria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4.0 </a:t>
            </a:r>
            <a:r>
              <a:rPr lang="en-US" sz="57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em</a:t>
            </a:r>
            <a:r>
              <a:rPr lang="en-US" sz="57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 Bold"/>
              </a:rPr>
              <a:t> Python</a:t>
            </a:r>
            <a:r>
              <a:rPr lang="en-US" sz="5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endParaRPr lang="en-US" sz="5700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7" name="Freeform 7"/>
          <p:cNvSpPr/>
          <p:nvPr/>
        </p:nvSpPr>
        <p:spPr>
          <a:xfrm rot="419970">
            <a:off x="2346378" y="1300020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8" y="0"/>
                </a:lnTo>
                <a:lnTo>
                  <a:pt x="910048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514715" y="1339466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8" y="0"/>
                </a:lnTo>
                <a:lnTo>
                  <a:pt x="910048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18133" y="1300020"/>
            <a:ext cx="910048" cy="4294742"/>
          </a:xfrm>
          <a:custGeom>
            <a:avLst/>
            <a:gdLst/>
            <a:ahLst/>
            <a:cxnLst/>
            <a:rect l="l" t="t" r="r" b="b"/>
            <a:pathLst>
              <a:path w="910048" h="4294742">
                <a:moveTo>
                  <a:pt x="0" y="0"/>
                </a:moveTo>
                <a:lnTo>
                  <a:pt x="910047" y="0"/>
                </a:lnTo>
                <a:lnTo>
                  <a:pt x="910047" y="4294742"/>
                </a:lnTo>
                <a:lnTo>
                  <a:pt x="0" y="4294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394" t="-51187" r="-1718769" b="-3039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30137" y="3405707"/>
            <a:ext cx="8246507" cy="14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83"/>
              </a:lnSpc>
            </a:pPr>
            <a:r>
              <a:rPr lang="en-US" sz="8416">
                <a:solidFill>
                  <a:srgbClr val="6DB3CF"/>
                </a:solidFill>
                <a:latin typeface="Gliker"/>
                <a:ea typeface="Gliker"/>
                <a:cs typeface="Gliker"/>
                <a:sym typeface="Gliker"/>
              </a:rPr>
              <a:t>ESTÁCIO RECIFE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11215" y="13007729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98491" y="22519777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07033" y="32466577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29518" y="11177885"/>
            <a:ext cx="7201349" cy="241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EXTENSÃO REALIZADA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21212" y="26059982"/>
            <a:ext cx="7201349" cy="1186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86"/>
              </a:lnSpc>
            </a:pPr>
            <a:r>
              <a:rPr lang="en-US" sz="691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EVIDÊNCIAS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7872962" y="-10390392"/>
            <a:ext cx="27058190" cy="27016626"/>
          </a:xfrm>
          <a:custGeom>
            <a:avLst/>
            <a:gdLst/>
            <a:ahLst/>
            <a:cxnLst/>
            <a:rect l="l" t="t" r="r" b="b"/>
            <a:pathLst>
              <a:path w="27058190" h="27016626">
                <a:moveTo>
                  <a:pt x="0" y="0"/>
                </a:moveTo>
                <a:lnTo>
                  <a:pt x="27058191" y="0"/>
                </a:lnTo>
                <a:lnTo>
                  <a:pt x="27058191" y="27016626"/>
                </a:lnTo>
                <a:lnTo>
                  <a:pt x="0" y="270166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63108" y="14682512"/>
            <a:ext cx="9248672" cy="786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7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Este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projeto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apresenta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um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sistema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de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monitoramento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inteligente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baseado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na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ESP32-CAM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capaz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de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detectar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movimento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enviar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automaticamente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uma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foto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b="1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em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tempo real para o Telegram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do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usuário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. A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proposta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visa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aumentar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a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segurança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residencial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possibilitar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aplicações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diversas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,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como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monitoramento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remoto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de ambientes,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acompanhamento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de pets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ou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vigilância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simples de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pequenos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espaços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.</a:t>
            </a:r>
            <a:endParaRPr lang="pt-BR" sz="4400"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67803" y="23861192"/>
            <a:ext cx="11644930" cy="7846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9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crescente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demanda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por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soluções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segurança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acessíveis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 de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fácil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implementação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torna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necessário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o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desenvolvimento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dispositivos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compactos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que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permitam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o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monitoramento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remoto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.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Muitos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sistemas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comerciais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são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caros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, de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difícil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configuração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ou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dependem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instalação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profissional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. Assim, o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problema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abordado</a:t>
            </a: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é:</a:t>
            </a:r>
            <a:br>
              <a:rPr lang="en-US" sz="3600" dirty="0">
                <a:latin typeface="Montserrat"/>
                <a:ea typeface="+mn-lt"/>
                <a:cs typeface="+mn-lt"/>
              </a:rPr>
            </a:br>
            <a:r>
              <a:rPr lang="en-US" sz="36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Como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criar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um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sistema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simples, de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baixo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custo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eficiente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que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permita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ao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usuário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monitorar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um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ambiente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receber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alertas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36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em</a:t>
            </a:r>
            <a:r>
              <a:rPr lang="en-US" sz="36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tempo real?</a:t>
            </a:r>
            <a:endParaRPr lang="pt-BR" sz="3600" b="1" dirty="0">
              <a:latin typeface="Montserrat"/>
              <a:ea typeface="+mn-lt"/>
              <a:cs typeface="+mn-lt"/>
            </a:endParaRPr>
          </a:p>
          <a:p>
            <a:pPr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45430" y="33668419"/>
            <a:ext cx="13433398" cy="713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>
              <a:lnSpc>
                <a:spcPts val="5600"/>
              </a:lnSpc>
            </a:pP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Desenvolver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um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sistema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vigilância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enconômica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utilizando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ESP32-CAM, </a:t>
            </a:r>
            <a:r>
              <a:rPr lang="en-US" sz="40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capaz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de:</a:t>
            </a:r>
          </a:p>
          <a:p>
            <a:pPr marL="863600" lvl="1" indent="-431800">
              <a:lnSpc>
                <a:spcPts val="5600"/>
              </a:lnSpc>
              <a:buFont typeface="Arial"/>
              <a:buChar char="•"/>
            </a:pPr>
            <a:r>
              <a:rPr lang="en-US" sz="4000" dirty="0" err="1">
                <a:latin typeface="Open Sans"/>
                <a:ea typeface="Open Sans"/>
                <a:cs typeface="Open Sans"/>
              </a:rPr>
              <a:t>Detectar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movimento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automaticamente</a:t>
            </a:r>
            <a:r>
              <a:rPr lang="en-US" sz="4000" dirty="0">
                <a:latin typeface="Open Sans"/>
                <a:ea typeface="Open Sans"/>
                <a:cs typeface="Open Sans"/>
              </a:rPr>
              <a:t>;</a:t>
            </a:r>
          </a:p>
          <a:p>
            <a:pPr marL="863600" lvl="1" indent="-431800">
              <a:lnSpc>
                <a:spcPts val="5600"/>
              </a:lnSpc>
              <a:buFont typeface="Arial"/>
              <a:buChar char="•"/>
            </a:pPr>
            <a:r>
              <a:rPr lang="en-US" sz="4000" dirty="0" err="1">
                <a:latin typeface="Open Sans"/>
                <a:ea typeface="Open Sans"/>
                <a:cs typeface="Open Sans"/>
              </a:rPr>
              <a:t>Capturar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imagens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imediatamente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após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a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detecção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;</a:t>
            </a:r>
          </a:p>
          <a:p>
            <a:pPr marL="863600" lvl="1" indent="-431800">
              <a:lnSpc>
                <a:spcPts val="5600"/>
              </a:lnSpc>
              <a:buFont typeface="Arial"/>
              <a:buChar char="•"/>
            </a:pPr>
            <a:r>
              <a:rPr lang="en-US" sz="4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Enviar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notificações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com </a:t>
            </a:r>
            <a:r>
              <a:rPr lang="en-US" sz="4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foto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para o Telegram do </a:t>
            </a:r>
            <a:r>
              <a:rPr lang="en-US" sz="4000" err="1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usuário</a:t>
            </a:r>
            <a:r>
              <a:rPr lang="en-US" sz="4000" dirty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;</a:t>
            </a:r>
          </a:p>
          <a:p>
            <a:pPr marL="863600" lvl="1" indent="-431800">
              <a:lnSpc>
                <a:spcPts val="5600"/>
              </a:lnSpc>
              <a:buFont typeface="Arial"/>
              <a:buChar char="•"/>
            </a:pPr>
            <a:r>
              <a:rPr lang="en-US" sz="4000" dirty="0" err="1">
                <a:latin typeface="Open Sans"/>
                <a:ea typeface="Open Sans"/>
                <a:cs typeface="Open Sans"/>
              </a:rPr>
              <a:t>Funcionar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de forma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portátil</a:t>
            </a:r>
            <a:r>
              <a:rPr lang="en-US" sz="4000" dirty="0">
                <a:latin typeface="Open Sans"/>
                <a:ea typeface="Open Sans"/>
                <a:cs typeface="Open Sans"/>
              </a:rPr>
              <a:t>,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utilizando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power bank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como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alimentação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;</a:t>
            </a:r>
          </a:p>
          <a:p>
            <a:pPr marL="863600" lvl="1" indent="-431800">
              <a:lnSpc>
                <a:spcPts val="5600"/>
              </a:lnSpc>
              <a:buFont typeface="Arial"/>
              <a:buChar char="•"/>
            </a:pPr>
            <a:r>
              <a:rPr lang="en-US" sz="4000" dirty="0">
                <a:latin typeface="Open Sans"/>
                <a:ea typeface="Open Sans"/>
                <a:cs typeface="Open Sans"/>
              </a:rPr>
              <a:t>Ser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replicado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facilmente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por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estudantes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e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interessados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em</a:t>
            </a:r>
            <a:r>
              <a:rPr lang="en-US" sz="4000" dirty="0"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latin typeface="Open Sans"/>
                <a:ea typeface="Open Sans"/>
                <a:cs typeface="Open Sans"/>
              </a:rPr>
              <a:t>automação</a:t>
            </a:r>
            <a:r>
              <a:rPr lang="en-US" sz="4000" dirty="0">
                <a:latin typeface="Open Sans"/>
                <a:ea typeface="Open Sans"/>
                <a:cs typeface="Open Sans"/>
              </a:rPr>
              <a:t>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12897" y="13444249"/>
            <a:ext cx="11782928" cy="1377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A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realização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de um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protótipo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em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Arduino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uno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extensão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desenvolvida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consistiu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na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criação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de um </a:t>
            </a:r>
            <a:r>
              <a:rPr lang="en-US" sz="44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protótipo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funcional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utilizando</a:t>
            </a:r>
            <a:r>
              <a:rPr lang="en-US" sz="44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a ESP32-CAM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,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integrando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as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seguintes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funcionalidades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principais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:</a:t>
            </a:r>
            <a:endParaRPr lang="pt-BR" sz="44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Detecção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automática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de </a:t>
            </a: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movimento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por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meio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de um sensor PIR,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acionando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a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captura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instantânea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de imagens.</a:t>
            </a:r>
            <a:endParaRPr lang="en-US" sz="48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Envio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remoto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de </a:t>
            </a: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fotos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para o Telegram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,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permitindo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que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usuário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receba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alertas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de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possível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invasão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ou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movimentação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inesperada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.</a:t>
            </a:r>
            <a:endParaRPr lang="en-US" sz="48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Montagem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b="1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física</a:t>
            </a:r>
            <a:r>
              <a:rPr lang="en-US" sz="4800" b="1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compacta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,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alimentada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por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power bank,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possibilitando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mobilidade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e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uso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em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diferentes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 </a:t>
            </a:r>
            <a:r>
              <a:rPr lang="en-US" sz="4800" err="1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locais</a:t>
            </a:r>
            <a:r>
              <a:rPr lang="en-US" sz="4800" dirty="0">
                <a:solidFill>
                  <a:srgbClr val="000000"/>
                </a:solidFill>
                <a:latin typeface="Calibri"/>
                <a:ea typeface="+mn-lt"/>
                <a:cs typeface="+mn-lt"/>
                <a:sym typeface="Montserrat"/>
              </a:rPr>
              <a:t>.</a:t>
            </a:r>
            <a:endParaRPr lang="en-US" sz="4800">
              <a:latin typeface="Calibri"/>
              <a:ea typeface="Calibri"/>
              <a:cs typeface="Calibri"/>
            </a:endParaRPr>
          </a:p>
          <a:p>
            <a:pPr>
              <a:lnSpc>
                <a:spcPts val="5780"/>
              </a:lnSpc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 com duas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funcionalidades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: o modo de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uso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automático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ligado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ao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sensor de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radiação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infra-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vermelho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e o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controle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remoto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por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bluetooth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utilizando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um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aplicativo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 de </a:t>
            </a:r>
            <a:r>
              <a:rPr lang="en-US" sz="4400" err="1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celular</a:t>
            </a:r>
            <a:r>
              <a:rPr lang="en-US" sz="4400" dirty="0">
                <a:solidFill>
                  <a:srgbClr val="000000"/>
                </a:solidFill>
                <a:latin typeface="Calibri"/>
                <a:ea typeface="Montserrat"/>
                <a:cs typeface="Montserrat"/>
                <a:sym typeface="Montserrat"/>
              </a:rPr>
              <a:t>. 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algn="ctr">
              <a:lnSpc>
                <a:spcPts val="5780"/>
              </a:lnSpc>
              <a:spcBef>
                <a:spcPct val="0"/>
              </a:spcBef>
            </a:pPr>
            <a:endParaRPr lang="en-US" sz="4400" dirty="0">
              <a:solidFill>
                <a:srgbClr val="000000"/>
              </a:solidFill>
              <a:latin typeface="Calibri"/>
              <a:ea typeface="Montserrat"/>
              <a:cs typeface="Montserra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269148" y="27799125"/>
            <a:ext cx="14473349" cy="8052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Circuito </a:t>
            </a:r>
            <a:r>
              <a:rPr lang="en-US" sz="4000" b="1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Simulado</a:t>
            </a: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Diagrama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funcionamento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ilustrando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a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ligação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entre ESP32-CAM, sensor PIR e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alimentação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.</a:t>
            </a:r>
            <a:endParaRPr lang="pt-BR" sz="4000">
              <a:latin typeface="Montserrat"/>
            </a:endParaRPr>
          </a:p>
          <a:p>
            <a:pPr lvl="1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Protótipo</a:t>
            </a: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b="1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Físico</a:t>
            </a: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Montagem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realizada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em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protoboard,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incluindo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ESP32-CAM, sensor PIR,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placa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programadora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sistema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400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fixação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.</a:t>
            </a:r>
            <a:endParaRPr lang="en-US" sz="4000">
              <a:latin typeface="Montserrat"/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Código-</a:t>
            </a:r>
            <a:r>
              <a:rPr lang="en-US" sz="4000" b="1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fonte</a:t>
            </a: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Implementação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da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lógica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detecção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movimento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captura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de imagens e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envio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para o Telegram via API.</a:t>
            </a:r>
            <a:endParaRPr lang="en-US" sz="4000">
              <a:latin typeface="Montserrat"/>
            </a:endParaRPr>
          </a:p>
          <a:p>
            <a:pPr lvl="1">
              <a:buFont typeface="Arial"/>
              <a:buChar char="•"/>
            </a:pP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b="1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Demonstração</a:t>
            </a:r>
            <a:r>
              <a:rPr lang="en-US" sz="4000" b="1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: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Sistema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em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operação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registrando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movimento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tirando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foto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e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enviando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automaticamente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 para o Telegram do </a:t>
            </a:r>
            <a:r>
              <a:rPr lang="en-US" sz="4000" dirty="0" err="1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usuário</a:t>
            </a:r>
            <a:r>
              <a:rPr lang="en-US" sz="4000" dirty="0">
                <a:solidFill>
                  <a:srgbClr val="000000"/>
                </a:solidFill>
                <a:latin typeface="Montserrat"/>
                <a:ea typeface="+mn-lt"/>
                <a:cs typeface="+mn-lt"/>
                <a:sym typeface="Montserrat"/>
              </a:rPr>
              <a:t>.</a:t>
            </a:r>
            <a:endParaRPr lang="en-US" sz="3600">
              <a:solidFill>
                <a:srgbClr val="000000"/>
              </a:solidFill>
              <a:latin typeface="Montserrat"/>
              <a:ea typeface="Calibri"/>
              <a:cs typeface="Calibri"/>
            </a:endParaRPr>
          </a:p>
          <a:p>
            <a:pPr marL="863600" lvl="1" indent="-431800">
              <a:lnSpc>
                <a:spcPts val="5600"/>
              </a:lnSpc>
              <a:buFont typeface="Arial"/>
              <a:buChar char="•"/>
            </a:pPr>
            <a:endParaRPr lang="en-US" sz="40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 25.2</dc:title>
  <cp:revision>111</cp:revision>
  <dcterms:created xsi:type="dcterms:W3CDTF">2006-08-16T00:00:00Z</dcterms:created>
  <dcterms:modified xsi:type="dcterms:W3CDTF">2025-11-18T01:01:04Z</dcterms:modified>
  <dc:identifier>DAGymX-YoF4</dc:identifier>
</cp:coreProperties>
</file>